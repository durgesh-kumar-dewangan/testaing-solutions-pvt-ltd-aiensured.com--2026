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9" r:id="rId10"/>
    <p:sldId id="275" r:id="rId11"/>
    <p:sldId id="270" r:id="rId12"/>
    <p:sldId id="271" r:id="rId13"/>
    <p:sldId id="272" r:id="rId14"/>
    <p:sldId id="273" r:id="rId15"/>
    <p:sldId id="274" r:id="rId16"/>
    <p:sldId id="26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0EA025-9147-4A07-8534-2DDDB6BED2E8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8"/>
            <p14:sldId id="269"/>
            <p14:sldId id="275"/>
            <p14:sldId id="270"/>
            <p14:sldId id="271"/>
            <p14:sldId id="272"/>
            <p14:sldId id="273"/>
            <p14:sldId id="274"/>
          </p14:sldIdLst>
        </p14:section>
        <p14:section name="Untitled Section" id="{33DED263-64BA-4134-940C-2BEB3E339EA8}">
          <p14:sldIdLst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howGuides="1">
      <p:cViewPr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B5C10-49B4-5D48-BF65-94FE865BEF3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77C85-FE54-124B-95E6-F9A0F1627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77C85-FE54-124B-95E6-F9A0F1627C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9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77C85-FE54-124B-95E6-F9A0F1627C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7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77C85-FE54-124B-95E6-F9A0F1627C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6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1292-1E4F-11DA-6526-0D4566FFD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BC6CF-F00E-D161-9379-DD6FD631B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F5C-E722-1740-8683-ECEDFBE1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57F7-339F-5D4E-9C16-8034D4D8F44B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F111-3CDB-004A-CB2B-012A356A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816C-5EA8-6EEE-C921-D57273A9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22A1A-EEFA-9D4B-8A89-52BD610F65EF}" type="slidenum">
              <a:rPr lang="en-US" smtClean="0"/>
              <a:pPr/>
              <a:t>‹#›</a:t>
            </a:fld>
            <a:r>
              <a:rPr lang="en-US" dirty="0"/>
              <a:t>|</a:t>
            </a:r>
            <a:fld id="{C7CE11B6-BB31-1C45-9920-0C912F7BCB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153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ABF5-4173-3687-0F79-1F067A73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96ED5-F729-6180-C50E-D6E0C645A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71A6-30B5-F39C-29B9-0B0B709A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03E0D-7A61-492C-2F7B-ABF8926D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20EBD-A1E1-D0B7-522C-3E7BCC65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8E50D33C-B2DC-E7D5-18D3-7E9B2E80E4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91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91F6-41EE-7E77-E07B-72C98AEE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1B2F6-C9BF-7C16-F771-68F562721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10CE-AF32-FBA6-E635-37BD9FD4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B6A68-8223-6847-B1AF-BF63A0263AB5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1E73-F77C-753F-B186-38391B62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7C526-17A1-E4B8-13D7-2ED26189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A76AC3AE-40B3-1A02-A87D-ADCCA65554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99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862C-8315-1BDA-5B7C-4E474A20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56591-38ED-C1AA-E06C-B83E63611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11D03-BA03-51DF-3EEA-8AFBE3951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A1E2A-F68A-3F8C-183A-462661D7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C1C6-C8DC-EF4A-9E19-D275438CC94E}" type="datetime1">
              <a:rPr lang="en-IN" smtClean="0"/>
              <a:t>29-04-2026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929E0-FB54-10A7-E27F-F3BD5B82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02FC-B032-956B-1CC7-FD6B2F00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AFADA941-3876-B36F-34A3-3B38C49D03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16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6120-28EA-9F56-F539-CD18A5DE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9E8A2-513E-F082-7658-2C6DB93F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C1DBD-B1FA-A284-605F-5B294E7AE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54ADB-4655-0F60-E91A-236938FF7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2A4EF-5210-871B-E845-165690AD9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1E6FE-D294-C2DD-E6D7-9F5B9E87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8AC0-8765-9A41-8D41-2D369A30419F}" type="datetime1">
              <a:rPr lang="en-IN" smtClean="0"/>
              <a:t>29-04-2026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25A3F-27D0-94AF-7E93-6608F28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8294A-D367-C727-E0A2-018ED683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CF71E9A8-96AF-FA3E-28D0-FB8247E5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9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0AFD-8939-0013-D7C1-132340EA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C6280-13D0-2EAF-6A38-3DDE70DB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964F1-95CF-6C42-9838-A5F69B082EFF}" type="datetime1">
              <a:rPr lang="en-IN" smtClean="0"/>
              <a:t>29-04-2026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9D17A-EF63-818F-FAFD-490F2247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51825-C1EA-21F4-E98B-4C0F993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5795D71E-1D03-9B6E-EA29-8AAEF3D6FC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60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58B36-7433-D39B-C3FA-AAC54184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2B36-632B-7A41-964B-2177780C3D38}" type="datetime1">
              <a:rPr lang="en-IN" smtClean="0"/>
              <a:t>29-04-2026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001B1-392A-1DEA-9184-BA190063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6BEE1-8249-1CC8-B51C-F517EAE5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1581B55D-8564-0681-4F54-19E2A3E511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25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1BCE-E8D1-E9BC-B33A-A69E9CE1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88303-FBF2-6F03-3B61-07F406A5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F089A-C604-9A9D-D4C3-F9811B87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E6D90-F9BD-11FE-1896-6BD3C177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A03F7-9209-1D4D-ACF6-F8BE8F7678A9}" type="datetime1">
              <a:rPr lang="en-IN" smtClean="0"/>
              <a:t>29-04-2026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8963-CE04-E678-E3AB-08641CE9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4ABF5-6349-BAB2-7A19-00B9AA23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0E750F27-04CC-133F-9D58-D3D94A2D02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68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CF17-6AFC-5AC1-7D2B-8A162193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B2823-D899-BDF0-3F4D-F4C5F0815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C55AC-F13B-01F9-29F3-59BC31390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01368-7671-FEF6-6048-81A69E25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BAFD6-0457-864B-9DFE-FF4ABF0A6ED6}" type="datetime1">
              <a:rPr lang="en-IN" smtClean="0"/>
              <a:t>29-04-2026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ED348-3ED2-E834-E07D-3DE8FE75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3F72D-7348-BB0B-75CB-68D70E52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F853034F-2B09-422C-7E20-D98A85B16B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90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C203-342E-33EB-0CD4-230B8C03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59C0D-3B94-7A27-F5AC-A9D9D115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E2BE-1099-F1AB-9057-8BD5DF84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4B0B-2620-054A-A94C-30269E627EC8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2C58F-904C-A6F2-04BE-7F9DB926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5A71-06EA-62DB-BE52-F5AE4A32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2842B8E7-CB0C-E5A8-FF35-EA83011E3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00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790A7-12DD-707A-EED6-1BB8A69C3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BE150-6BC2-A9AA-068F-D41637AC9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D7658-52C8-CE52-C797-6584EA57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C50B-D7E9-3E46-BF97-BF9CDB3195D0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71DF3-562C-AA30-AAB9-0B78F42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A253-1D33-C327-47F5-B8D8F772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2B0EC86A-B89D-A041-A270-093C568666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95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03CB0-8A5B-9441-D8C5-D862643A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12E3E-05B7-C06B-ED2D-B66C7826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8FB7C-02A8-500A-3E2A-6C75AC30A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73BDE-C960-2747-AB88-84FEF7968BD6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DF11-CA0C-42D7-9EA2-30CA70903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9DE1E-231A-DAF2-1BE2-BB01C7DD1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0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E7D-0FF5-6BBA-F2C7-D054E2C1D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9839" y="236703"/>
            <a:ext cx="9144000" cy="1812073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Chhattisgarh Swami Vivekanand Technical University </a:t>
            </a:r>
            <a:b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University Teaching Department </a:t>
            </a:r>
            <a:b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Department of Computer Science and Engineering </a:t>
            </a:r>
            <a:endParaRPr lang="en-US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93E70-59AF-00AC-4AFC-EA9F93DA4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839" y="2853078"/>
            <a:ext cx="9144000" cy="2083738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Internship Progress Report</a:t>
            </a:r>
          </a:p>
          <a:p>
            <a:pPr algn="l"/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On </a:t>
            </a:r>
          </a:p>
          <a:p>
            <a:pPr algn="l"/>
            <a:r>
              <a:rPr lang="en-US" sz="4400" i="1" dirty="0">
                <a:latin typeface="Palatino Linotype" panose="02040502050505030304" pitchFamily="18" charset="0"/>
              </a:rPr>
              <a:t>*</a:t>
            </a:r>
            <a:r>
              <a:rPr lang="en-US" b="1" dirty="0" err="1"/>
              <a:t>rAI</a:t>
            </a:r>
            <a:r>
              <a:rPr lang="en-US" b="1" dirty="0"/>
              <a:t> &amp; </a:t>
            </a:r>
            <a:r>
              <a:rPr lang="en-US" b="1" dirty="0" err="1"/>
              <a:t>xAI</a:t>
            </a:r>
            <a:r>
              <a:rPr lang="en-US" b="1" dirty="0"/>
              <a:t> Framework for LLM Systems Testing and Validation</a:t>
            </a:r>
            <a:r>
              <a:rPr lang="en-US" sz="4400" i="1" dirty="0">
                <a:latin typeface="Palatino Linotype" panose="02040502050505030304" pitchFamily="18" charset="0"/>
              </a:rPr>
              <a:t>*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594FAD-F301-E63C-FC68-D2C93AB73E66}"/>
              </a:ext>
            </a:extLst>
          </p:cNvPr>
          <p:cNvCxnSpPr/>
          <p:nvPr/>
        </p:nvCxnSpPr>
        <p:spPr>
          <a:xfrm>
            <a:off x="2378396" y="0"/>
            <a:ext cx="0" cy="68580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A74C521E-A9EF-EEB8-9DF2-5BB56D2665B7}"/>
              </a:ext>
            </a:extLst>
          </p:cNvPr>
          <p:cNvSpPr txBox="1">
            <a:spLocks/>
          </p:cNvSpPr>
          <p:nvPr/>
        </p:nvSpPr>
        <p:spPr>
          <a:xfrm>
            <a:off x="99827" y="2176554"/>
            <a:ext cx="348342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Presented By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 Name: </a:t>
            </a:r>
            <a:r>
              <a:rPr lang="en-US" sz="1200" i="1" dirty="0">
                <a:latin typeface="Palatino Linotype" panose="02040502050505030304" pitchFamily="18" charset="0"/>
              </a:rPr>
              <a:t>Durgesh Kumar </a:t>
            </a:r>
          </a:p>
          <a:p>
            <a:pPr algn="l">
              <a:spcBef>
                <a:spcPts val="100"/>
              </a:spcBef>
            </a:pPr>
            <a:r>
              <a:rPr lang="en-US" sz="1200" i="1" dirty="0">
                <a:latin typeface="Palatino Linotype" panose="02040502050505030304" pitchFamily="18" charset="0"/>
              </a:rPr>
              <a:t>                     Dewangan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#Roll No: </a:t>
            </a:r>
            <a:r>
              <a:rPr lang="en-US" sz="1200" i="1" dirty="0">
                <a:latin typeface="Palatino Linotype" panose="02040502050505030304" pitchFamily="18" charset="0"/>
              </a:rPr>
              <a:t>300012723018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#Branch: </a:t>
            </a:r>
            <a:r>
              <a:rPr lang="en-US" sz="1200" i="1" dirty="0">
                <a:latin typeface="Palatino Linotype" panose="02040502050505030304" pitchFamily="18" charset="0"/>
              </a:rPr>
              <a:t>CSE(AI)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3FCFD5-1BBF-DF4B-670C-9891F5194F1F}"/>
              </a:ext>
            </a:extLst>
          </p:cNvPr>
          <p:cNvCxnSpPr>
            <a:cxnSpLocks/>
          </p:cNvCxnSpPr>
          <p:nvPr/>
        </p:nvCxnSpPr>
        <p:spPr>
          <a:xfrm>
            <a:off x="2779839" y="253324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5CEAB753-F26B-194F-E51C-D21C2A77FEEE}"/>
              </a:ext>
            </a:extLst>
          </p:cNvPr>
          <p:cNvSpPr txBox="1">
            <a:spLocks/>
          </p:cNvSpPr>
          <p:nvPr/>
        </p:nvSpPr>
        <p:spPr>
          <a:xfrm>
            <a:off x="-53340" y="3856303"/>
            <a:ext cx="348342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i="1" dirty="0">
                <a:latin typeface="Palatino Linotype" panose="02040502050505030304" pitchFamily="18" charset="0"/>
              </a:rPr>
              <a:t>#Mentored by#</a:t>
            </a:r>
          </a:p>
          <a:p>
            <a:pPr algn="l"/>
            <a:r>
              <a:rPr lang="en-US" sz="1100" b="1" i="1" dirty="0">
                <a:latin typeface="Palatino Linotype" panose="02040502050505030304" pitchFamily="18" charset="0"/>
              </a:rPr>
              <a:t>Mr. Bhushan Gangurde</a:t>
            </a:r>
          </a:p>
          <a:p>
            <a:pPr algn="l"/>
            <a:r>
              <a:rPr lang="en-US" sz="1100" b="1" i="1" dirty="0">
                <a:latin typeface="Palatino Linotype" panose="02040502050505030304" pitchFamily="18" charset="0"/>
              </a:rPr>
              <a:t>ML-I Engineer at </a:t>
            </a:r>
          </a:p>
          <a:p>
            <a:pPr algn="l"/>
            <a:r>
              <a:rPr lang="en-US" sz="1100" b="1" i="1" dirty="0" err="1">
                <a:latin typeface="Palatino Linotype" panose="02040502050505030304" pitchFamily="18" charset="0"/>
              </a:rPr>
              <a:t>TestAIng</a:t>
            </a:r>
            <a:r>
              <a:rPr lang="en-US" sz="1100" b="1" i="1" dirty="0">
                <a:latin typeface="Palatino Linotype" panose="02040502050505030304" pitchFamily="18" charset="0"/>
              </a:rPr>
              <a:t> Solutions Pvt. Ltd(</a:t>
            </a:r>
            <a:r>
              <a:rPr lang="en-US" sz="1100" b="1" i="1" dirty="0" err="1">
                <a:latin typeface="Palatino Linotype" panose="02040502050505030304" pitchFamily="18" charset="0"/>
              </a:rPr>
              <a:t>aiensured</a:t>
            </a:r>
            <a:r>
              <a:rPr lang="en-US" sz="1100" b="1" i="1" dirty="0">
                <a:latin typeface="Palatino Linotype" panose="02040502050505030304" pitchFamily="18" charset="0"/>
              </a:rPr>
              <a:t>)</a:t>
            </a:r>
          </a:p>
          <a:p>
            <a:pPr algn="l"/>
            <a:endParaRPr lang="en-US" sz="1400" b="1" i="1" dirty="0">
              <a:solidFill>
                <a:srgbClr val="002060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95B837-3C9F-FF64-C746-CBF3D9A45275}"/>
              </a:ext>
            </a:extLst>
          </p:cNvPr>
          <p:cNvCxnSpPr>
            <a:cxnSpLocks/>
          </p:cNvCxnSpPr>
          <p:nvPr/>
        </p:nvCxnSpPr>
        <p:spPr>
          <a:xfrm>
            <a:off x="99828" y="2545863"/>
            <a:ext cx="21304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648040-46CA-E2B1-05E0-E3FFD849521C}"/>
              </a:ext>
            </a:extLst>
          </p:cNvPr>
          <p:cNvCxnSpPr>
            <a:cxnSpLocks/>
          </p:cNvCxnSpPr>
          <p:nvPr/>
        </p:nvCxnSpPr>
        <p:spPr>
          <a:xfrm>
            <a:off x="99828" y="3779932"/>
            <a:ext cx="21304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EEEA4098-F49C-656E-20ED-0611022C6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02"/>
            <a:ext cx="2289183" cy="22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76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F10-DA1D-9DA6-495E-7C2901A5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771" y="136525"/>
            <a:ext cx="10515600" cy="605031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91FD-50F9-C789-8247-9895F65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DBF4-CB4E-6B41-840E-413D0B679B2D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85A92-5543-6804-6E42-15BD57CE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F87C78-AAA0-9229-BB94-7860FF305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8318" y="781041"/>
            <a:ext cx="4092787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&amp; Scope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/ Existing Solutions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Done (Month 3)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Status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Outcomes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20153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F61C-CC26-CDBE-EC91-F7A83BE1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24" y="136525"/>
            <a:ext cx="10515600" cy="71654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7F21-CCF5-B3BE-70B3-5E901BF3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CE47B-0F3C-4B01-0027-0F1B3FB9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90A9A9-5AC9-0421-2342-C1F140197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0209"/>
            <a:ext cx="760456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Language Models (LLMs) are widely used for: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they suffer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address this: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13F556A-973B-3ACF-A7AD-FCC4846AD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805" y="1104225"/>
            <a:ext cx="645074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question answering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 document analysis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hallucination (incorrect responses)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lack of explainability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Retrieval-Augmented Generation (RAG) is used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improving reliability using Multi-RAG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integrating Responsible AI (</a:t>
            </a:r>
            <a:r>
              <a:rPr lang="en-US" altLang="en-US" sz="1800" dirty="0" err="1">
                <a:latin typeface="Arial" panose="020B0604020202020204" pitchFamily="34" charset="0"/>
              </a:rPr>
              <a:t>rAI</a:t>
            </a:r>
            <a:r>
              <a:rPr lang="en-US" altLang="en-US" sz="1800" dirty="0">
                <a:latin typeface="Arial" panose="020B0604020202020204" pitchFamily="34" charset="0"/>
              </a:rPr>
              <a:t>) and Explainable AI (</a:t>
            </a:r>
            <a:r>
              <a:rPr lang="en-US" altLang="en-US" sz="1800" dirty="0" err="1">
                <a:latin typeface="Arial" panose="020B0604020202020204" pitchFamily="34" charset="0"/>
              </a:rPr>
              <a:t>xAI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4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E396-D756-25ED-0617-D0FC59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63" y="136525"/>
            <a:ext cx="10515600" cy="6942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 /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F4C8-D339-4016-167D-2FAC5702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527" y="1045039"/>
            <a:ext cx="10515600" cy="5110433"/>
          </a:xfrm>
        </p:spPr>
        <p:txBody>
          <a:bodyPr>
            <a:normAutofit/>
          </a:bodyPr>
          <a:lstStyle/>
          <a:p>
            <a:r>
              <a:rPr lang="en-US" sz="2000" dirty="0"/>
              <a:t>LLMs generate responses without verifying facts </a:t>
            </a:r>
          </a:p>
          <a:p>
            <a:r>
              <a:rPr lang="en-US" sz="2000" dirty="0"/>
              <a:t>Major issues: </a:t>
            </a:r>
          </a:p>
          <a:p>
            <a:pPr lvl="1"/>
            <a:r>
              <a:rPr lang="en-US" sz="1800" dirty="0"/>
              <a:t>hallucinated answers </a:t>
            </a:r>
          </a:p>
          <a:p>
            <a:pPr lvl="1"/>
            <a:r>
              <a:rPr lang="en-US" sz="1800" dirty="0"/>
              <a:t>irrelevant context </a:t>
            </a:r>
          </a:p>
          <a:p>
            <a:pPr lvl="1"/>
            <a:r>
              <a:rPr lang="en-US" sz="1800" dirty="0"/>
              <a:t> lack of transparency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Motive:</a:t>
            </a:r>
          </a:p>
          <a:p>
            <a:r>
              <a:rPr lang="en-US" sz="2000" dirty="0"/>
              <a:t>Build a system that: </a:t>
            </a:r>
          </a:p>
          <a:p>
            <a:pPr lvl="1"/>
            <a:r>
              <a:rPr lang="en-US" sz="1800" dirty="0"/>
              <a:t>retrieves correct context </a:t>
            </a:r>
          </a:p>
          <a:p>
            <a:pPr lvl="1"/>
            <a:r>
              <a:rPr lang="en-US" sz="1800" dirty="0"/>
              <a:t>generates reliable answers </a:t>
            </a:r>
          </a:p>
          <a:p>
            <a:pPr lvl="1"/>
            <a:r>
              <a:rPr lang="en-US" sz="1800" dirty="0"/>
              <a:t>can be validated and explained 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E634-B856-B127-8AE9-6EEE506A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FEF3D-B8A6-8025-B509-F9C98407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6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9931-B79D-12AB-79A4-41C9D991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5753"/>
          </a:xfrm>
        </p:spPr>
        <p:txBody>
          <a:bodyPr/>
          <a:lstStyle/>
          <a:p>
            <a:r>
              <a:rPr lang="en-US" dirty="0"/>
              <a:t>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1F45-2550-C113-BB50-890998678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17"/>
            <a:ext cx="10515600" cy="51064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Objectives:</a:t>
            </a:r>
          </a:p>
          <a:p>
            <a:r>
              <a:rPr lang="en-IN" sz="2000" dirty="0"/>
              <a:t>Build a </a:t>
            </a:r>
            <a:r>
              <a:rPr lang="en-IN" sz="2000" b="1" dirty="0"/>
              <a:t>RAG-based document QA system</a:t>
            </a:r>
            <a:r>
              <a:rPr lang="en-IN" sz="2000" dirty="0"/>
              <a:t> </a:t>
            </a:r>
          </a:p>
          <a:p>
            <a:r>
              <a:rPr lang="en-IN" sz="2000" dirty="0"/>
              <a:t>Improve retrieval using </a:t>
            </a:r>
            <a:r>
              <a:rPr lang="en-IN" sz="2000" b="1" dirty="0"/>
              <a:t>Multi-RAG</a:t>
            </a:r>
            <a:r>
              <a:rPr lang="en-IN" sz="2000" dirty="0"/>
              <a:t> </a:t>
            </a:r>
          </a:p>
          <a:p>
            <a:r>
              <a:rPr lang="en-IN" sz="2000" dirty="0"/>
              <a:t>Reduce hallucination in LLM outputs </a:t>
            </a:r>
          </a:p>
          <a:p>
            <a:r>
              <a:rPr lang="en-IN" sz="2000" dirty="0"/>
              <a:t>Introduce </a:t>
            </a:r>
            <a:r>
              <a:rPr lang="en-IN" sz="2000" b="1" dirty="0"/>
              <a:t>evaluation mechanisms (</a:t>
            </a:r>
            <a:r>
              <a:rPr lang="en-IN" sz="2000" b="1" dirty="0" err="1"/>
              <a:t>rAI</a:t>
            </a:r>
            <a:r>
              <a:rPr lang="en-IN" sz="2000" b="1" dirty="0"/>
              <a:t>)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Scope:</a:t>
            </a:r>
          </a:p>
          <a:p>
            <a:r>
              <a:rPr lang="en-IN" sz="2000" dirty="0"/>
              <a:t>Enterprise document intelligence </a:t>
            </a:r>
          </a:p>
          <a:p>
            <a:r>
              <a:rPr lang="en-IN" sz="2000" dirty="0"/>
              <a:t>AI validation systems </a:t>
            </a:r>
          </a:p>
          <a:p>
            <a:r>
              <a:rPr lang="en-IN" sz="2000" dirty="0"/>
              <a:t>Explainable AI integration (future phase)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4B55-B07F-02F1-CAAB-7D433C17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F1F37-F40B-6AEF-D70F-6B7942B0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1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EA6B-C339-453A-1015-B15085D3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259" y="272661"/>
            <a:ext cx="10515600" cy="671938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/Existing Solutions (for Projects)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3B84-515A-BC8B-C6DA-A355C4672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9" y="1056189"/>
            <a:ext cx="10515600" cy="50769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Existing Systems:</a:t>
            </a:r>
          </a:p>
          <a:p>
            <a:r>
              <a:rPr lang="en-IN" sz="2000" dirty="0"/>
              <a:t>Standard LLMs: </a:t>
            </a:r>
          </a:p>
          <a:p>
            <a:pPr lvl="1"/>
            <a:r>
              <a:rPr lang="en-IN" sz="1800" dirty="0"/>
              <a:t>generate answers without context </a:t>
            </a:r>
          </a:p>
          <a:p>
            <a:r>
              <a:rPr lang="en-IN" sz="2000" dirty="0"/>
              <a:t>Basic RAG: </a:t>
            </a:r>
          </a:p>
          <a:p>
            <a:pPr lvl="1"/>
            <a:r>
              <a:rPr lang="en-IN" sz="1800" dirty="0"/>
              <a:t>retrieves context but has limitations </a:t>
            </a:r>
          </a:p>
          <a:p>
            <a:pPr lvl="1"/>
            <a:endParaRPr lang="en-IN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Limitations:</a:t>
            </a:r>
          </a:p>
          <a:p>
            <a:r>
              <a:rPr lang="en-IN" sz="2000" dirty="0"/>
              <a:t>Single retrieval strategy </a:t>
            </a:r>
          </a:p>
          <a:p>
            <a:r>
              <a:rPr lang="en-IN" sz="2000" dirty="0"/>
              <a:t>Poor ranking of context </a:t>
            </a:r>
          </a:p>
          <a:p>
            <a:r>
              <a:rPr lang="en-IN" sz="2000" dirty="0"/>
              <a:t>Still produces hallucinations </a:t>
            </a:r>
          </a:p>
          <a:p>
            <a:endParaRPr lang="en-IN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Gap Identified:</a:t>
            </a:r>
          </a:p>
          <a:p>
            <a:r>
              <a:rPr lang="en-IN" sz="2000" dirty="0"/>
              <a:t> Need for Hybrid Retrieval + Context Optimization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83EBD-4728-4836-3779-35AD8806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AD802-A1FA-5329-0CBC-B848F981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2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3314-BFBE-2297-4F63-0EA2A01F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/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EA4E-C912-B01D-E6EF-A496EA61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46A77-5BC6-403C-C3E4-E790B8E5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5CE47-715B-01D9-CCF2-B45B551DD2C1}"/>
              </a:ext>
            </a:extLst>
          </p:cNvPr>
          <p:cNvSpPr txBox="1"/>
          <p:nvPr/>
        </p:nvSpPr>
        <p:spPr>
          <a:xfrm>
            <a:off x="838200" y="1670177"/>
            <a:ext cx="4265815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Month 1 Approach (Basic RAG)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Document → Text Extraction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Chunking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Embedding Generation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Vector Storage (FAISS)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Retrieval + LLM</a:t>
            </a:r>
          </a:p>
          <a:p>
            <a:pPr>
              <a:buFont typeface="+mj-lt"/>
              <a:buAutoNum type="arabicPeriod"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3A65E4-1FFC-E8CA-7C59-19BE5A08DCCF}"/>
              </a:ext>
            </a:extLst>
          </p:cNvPr>
          <p:cNvSpPr txBox="1"/>
          <p:nvPr/>
        </p:nvSpPr>
        <p:spPr>
          <a:xfrm>
            <a:off x="6096000" y="1608622"/>
            <a:ext cx="426581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2 Approach (Multi-RAG)</a:t>
            </a:r>
          </a:p>
          <a:p>
            <a:pPr>
              <a:buFont typeface="+mj-lt"/>
              <a:buAutoNum type="arabicPeriod"/>
            </a:pPr>
            <a:r>
              <a:rPr lang="en-IN" dirty="0"/>
              <a:t>Query Input </a:t>
            </a:r>
          </a:p>
          <a:p>
            <a:pPr>
              <a:buFont typeface="+mj-lt"/>
              <a:buAutoNum type="arabicPeriod"/>
            </a:pPr>
            <a:r>
              <a:rPr lang="en-IN" dirty="0"/>
              <a:t>Multi Retrieval: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vector search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keyword search </a:t>
            </a:r>
          </a:p>
          <a:p>
            <a:pPr>
              <a:buFont typeface="+mj-lt"/>
              <a:buAutoNum type="arabicPeriod"/>
            </a:pPr>
            <a:r>
              <a:rPr lang="en-IN" dirty="0"/>
              <a:t>Combine Results </a:t>
            </a:r>
          </a:p>
          <a:p>
            <a:pPr>
              <a:buFont typeface="+mj-lt"/>
              <a:buAutoNum type="arabicPeriod"/>
            </a:pPr>
            <a:r>
              <a:rPr lang="en-IN" dirty="0"/>
              <a:t>Re-rank Context </a:t>
            </a:r>
          </a:p>
          <a:p>
            <a:pPr>
              <a:buFont typeface="+mj-lt"/>
              <a:buAutoNum type="arabicPeriod"/>
            </a:pPr>
            <a:r>
              <a:rPr lang="en-IN" dirty="0"/>
              <a:t>LLM Response </a:t>
            </a:r>
          </a:p>
        </p:txBody>
      </p:sp>
    </p:spTree>
    <p:extLst>
      <p:ext uri="{BB962C8B-B14F-4D97-AF65-F5344CB8AC3E}">
        <p14:creationId xmlns:p14="http://schemas.microsoft.com/office/powerpoint/2010/main" val="328524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A4A3-D7D5-4BC5-F9BE-F9C25CF7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2A0D-4DD9-DE52-F3CB-50399396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Work Completed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E025-D4A7-400D-4F28-2DEFDC0B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FF618-A3A4-7F5F-BED6-2AF985BF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BCD9-A60F-8CEB-42F6-F4B6BE4091F0}"/>
              </a:ext>
            </a:extLst>
          </p:cNvPr>
          <p:cNvSpPr txBox="1"/>
          <p:nvPr/>
        </p:nvSpPr>
        <p:spPr>
          <a:xfrm>
            <a:off x="838200" y="1727538"/>
            <a:ext cx="4572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document ingestion pipeline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embedding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FAISS vector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Basic RAG prototype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36FE8-5EC5-A67F-7327-15E13CD825A5}"/>
              </a:ext>
            </a:extLst>
          </p:cNvPr>
          <p:cNvSpPr txBox="1"/>
          <p:nvPr/>
        </p:nvSpPr>
        <p:spPr>
          <a:xfrm>
            <a:off x="5902036" y="1727538"/>
            <a:ext cx="4572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</a:t>
            </a:r>
            <a:r>
              <a:rPr lang="en-IN" b="1" dirty="0"/>
              <a:t>Multi-RAG architecture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hybrid retrieval (vector + keyword)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context re-ranking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351122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0DC1-2983-F106-9F04-60C92319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5D2A-8E85-EF73-86B2-E48F2883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FC51-3608-214D-79F4-AD7ED8E6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9A5F3-ACDA-BBC9-48B5-C9EE8E20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DEFB15-1558-4808-F431-66B9DAF58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991597"/>
            <a:ext cx="9476509" cy="515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3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2D8E-45C5-5A5C-2176-9B8512A2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91DD-8AF3-BE71-6D23-58EB3316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B73D-FF96-05B0-10C8-34898D84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1BA44-D35B-8D80-9471-4303232D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30448-A94C-AEEB-5B20-DF483CA7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29995"/>
            <a:ext cx="6725774" cy="4083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63C1F8-E2B5-C957-7F4A-C2957FDBF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38" y="4957257"/>
            <a:ext cx="7944959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9E17-92EE-930D-EABF-D66950C8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36" y="-128569"/>
            <a:ext cx="10515600" cy="1325563"/>
          </a:xfrm>
        </p:spPr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9CE87-91E3-CCC3-3C19-18C0B47C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2D985-D7D4-20DE-2062-90EB2B3C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CCB79-8144-1D5A-5003-D2F04318F8A2}"/>
              </a:ext>
            </a:extLst>
          </p:cNvPr>
          <p:cNvSpPr txBox="1"/>
          <p:nvPr/>
        </p:nvSpPr>
        <p:spPr>
          <a:xfrm>
            <a:off x="1165166" y="1196994"/>
            <a:ext cx="88101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During this work, faced several challenges: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Difficulty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retrieving relevant chunks consistently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 documents handling large documents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combining multiple retrieval methods :</a:t>
            </a:r>
          </a:p>
          <a:p>
            <a:pPr lvl="1"/>
            <a:r>
              <a:rPr lang="en-IN" dirty="0"/>
              <a:t>               keyword + semantic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Prompt tuning: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reducing hallucination through prompt design</a:t>
            </a:r>
            <a:endParaRPr lang="en-IN" dirty="0"/>
          </a:p>
          <a:p>
            <a:pPr lvl="1"/>
            <a:endParaRPr lang="en-IN" dirty="0"/>
          </a:p>
          <a:p>
            <a:pPr>
              <a:buNone/>
            </a:pPr>
            <a:r>
              <a:rPr lang="en-IN" b="1" dirty="0"/>
              <a:t>How I Solved: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overcome these, I implemented hybrid retrieval and context re-ranking, and iteratively improved prompts.”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05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481-B13B-2338-9C4D-BF4FBD68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6EFF-D906-5D8D-3014-70625255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Status vs Planned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F9D4-74EB-334C-3633-95746D51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Planned:</a:t>
            </a:r>
          </a:p>
          <a:p>
            <a:r>
              <a:rPr lang="en-IN" sz="2400" dirty="0"/>
              <a:t>Month 1: Basic system </a:t>
            </a:r>
          </a:p>
          <a:p>
            <a:r>
              <a:rPr lang="en-IN" sz="2400" dirty="0"/>
              <a:t>Month 2: Advanced retrieval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b="1" dirty="0"/>
              <a:t>Completed:</a:t>
            </a:r>
          </a:p>
          <a:p>
            <a:r>
              <a:rPr lang="en-IN" dirty="0"/>
              <a:t> </a:t>
            </a:r>
            <a:r>
              <a:rPr lang="en-IN" sz="2400" dirty="0"/>
              <a:t>Basic RAG </a:t>
            </a:r>
          </a:p>
          <a:p>
            <a:r>
              <a:rPr lang="en-IN" sz="2400" dirty="0"/>
              <a:t> Multi-RAG</a:t>
            </a:r>
          </a:p>
          <a:p>
            <a:r>
              <a:rPr lang="en-IN" sz="2400" dirty="0"/>
              <a:t>Multi-Model RAG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xAI</a:t>
            </a:r>
            <a:r>
              <a:rPr lang="en-IN" sz="2400" dirty="0"/>
              <a:t> (in progress) </a:t>
            </a:r>
          </a:p>
          <a:p>
            <a:r>
              <a:rPr lang="en-IN" sz="2400" dirty="0" err="1"/>
              <a:t>rAI</a:t>
            </a:r>
            <a:r>
              <a:rPr lang="en-IN" sz="2400" dirty="0"/>
              <a:t> validation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419BB-E534-2619-1D62-1D4C54AE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5876D-84FC-77CD-299E-BD6964D2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232A-545D-34BA-7F38-4105D06C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D92C-B4DF-033E-6789-0CFA06F6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E56D-0280-5A2C-AA19-137B9763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35E0D-26EB-CF49-AE9C-E837E9F4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13</a:t>
            </a:fld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E7CA06-B7ED-73EB-582A-0C2816F04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1014"/>
            <a:ext cx="455765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Explainable AI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SHAP-based explanations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LLM validation metrics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3AC89-01DB-61D5-F86A-4A3F192A5833}"/>
              </a:ext>
            </a:extLst>
          </p:cNvPr>
          <p:cNvSpPr txBox="1"/>
          <p:nvPr/>
        </p:nvSpPr>
        <p:spPr>
          <a:xfrm>
            <a:off x="1517073" y="2942665"/>
            <a:ext cx="6093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groundedness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system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data (tables/images)</a:t>
            </a:r>
          </a:p>
        </p:txBody>
      </p:sp>
    </p:spTree>
    <p:extLst>
      <p:ext uri="{BB962C8B-B14F-4D97-AF65-F5344CB8AC3E}">
        <p14:creationId xmlns:p14="http://schemas.microsoft.com/office/powerpoint/2010/main" val="78135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15B8C-6AEB-6CBE-9F88-F549D824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CD8E-9E10-7294-EFFA-3894FB35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0163-4D44-AFAC-C613-8296BC54F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36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Learned: </a:t>
            </a:r>
          </a:p>
          <a:p>
            <a:pPr lvl="1"/>
            <a:r>
              <a:rPr lang="en-IN" dirty="0" err="1"/>
              <a:t>Responsibel</a:t>
            </a:r>
            <a:r>
              <a:rPr lang="en-IN" dirty="0"/>
              <a:t> AI, LLM, LLM models  </a:t>
            </a:r>
            <a:r>
              <a:rPr lang="en-IN" dirty="0" err="1"/>
              <a:t>Explanable</a:t>
            </a:r>
            <a:r>
              <a:rPr lang="en-IN" dirty="0"/>
              <a:t> AI,</a:t>
            </a:r>
          </a:p>
          <a:p>
            <a:pPr lvl="1"/>
            <a:r>
              <a:rPr lang="en-IN" dirty="0"/>
              <a:t>Environment Setup</a:t>
            </a:r>
          </a:p>
          <a:p>
            <a:pPr lvl="1"/>
            <a:r>
              <a:rPr lang="en-IN" dirty="0"/>
              <a:t>RAG and Multi-RAG systems </a:t>
            </a:r>
          </a:p>
          <a:p>
            <a:pPr lvl="1"/>
            <a:r>
              <a:rPr lang="en-IN" dirty="0"/>
              <a:t>Environment Setup</a:t>
            </a:r>
          </a:p>
          <a:p>
            <a:pPr lvl="1"/>
            <a:r>
              <a:rPr lang="en-IN" dirty="0"/>
              <a:t>Vector databases (FAISS) </a:t>
            </a:r>
          </a:p>
          <a:p>
            <a:pPr lvl="1"/>
            <a:r>
              <a:rPr lang="en-IN" dirty="0"/>
              <a:t>Hybrid search techniques </a:t>
            </a:r>
          </a:p>
          <a:p>
            <a:r>
              <a:rPr lang="en-IN" dirty="0"/>
              <a:t>Gained skills in: </a:t>
            </a:r>
          </a:p>
          <a:p>
            <a:pPr lvl="1"/>
            <a:r>
              <a:rPr lang="en-IN" dirty="0"/>
              <a:t>prompt engineering </a:t>
            </a:r>
          </a:p>
          <a:p>
            <a:pPr lvl="1"/>
            <a:r>
              <a:rPr lang="en-IN" dirty="0"/>
              <a:t>LLM optimization </a:t>
            </a:r>
          </a:p>
          <a:p>
            <a:r>
              <a:rPr lang="en-IN" dirty="0"/>
              <a:t>Understood: </a:t>
            </a:r>
          </a:p>
          <a:p>
            <a:pPr lvl="1"/>
            <a:r>
              <a:rPr lang="en-IN" dirty="0"/>
              <a:t>real-world AI challenges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60A84-9CB7-6BC1-4DA8-4CD71289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0CDDE-559B-4BAA-A555-50C1FABA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61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B09F-6BA4-DE47-01BB-1F606EFF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DD49-5C16-6AD6-E2D9-DF98AEBD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04C3-0ACF-086C-9B91-728B61D7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0335B-FFBD-C254-093E-3FDBED80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219B7E-8876-67EE-D625-2F093B867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12421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designed and implemented a baseline RAG system for document-based question answering.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the system into a Multi-RAG framework by introducing: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retrieval (semantic + keyword)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re-ranking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significant improvements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relevance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hallucinated responses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that combining multiple retrieval strategies leads to more reliable and grounded LLM outputs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a strong foundation for building Trustworthy AI systems by: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enabling context-aware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for integration of Responsible AI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Explainable AI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86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FEF9-9912-E578-144E-6ABB90E9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64" y="18256"/>
            <a:ext cx="10515600" cy="818086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7B724-C85B-3549-6A16-A3B39A98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29-04-2026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C5ABC-018A-1C83-9D6C-E8720B16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16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51EB01C-B059-5009-65DD-4AE1294D2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5083" y="911731"/>
            <a:ext cx="9662802" cy="562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Research Papers</a:t>
            </a:r>
          </a:p>
          <a:p>
            <a:r>
              <a:rPr lang="en-IN" sz="1800" dirty="0"/>
              <a:t>Retrieval-Augmented Generation for Knowledge-Intensive NLP Tasks </a:t>
            </a:r>
          </a:p>
          <a:p>
            <a:r>
              <a:rPr lang="en-IN" sz="1800" dirty="0"/>
              <a:t>Dense Passage Retrieval for Open-Domain Question Answering .</a:t>
            </a:r>
          </a:p>
          <a:p>
            <a:r>
              <a:rPr lang="en-IN" sz="1800" b="1" dirty="0"/>
              <a:t>Frameworks &amp; Documentation </a:t>
            </a:r>
          </a:p>
          <a:p>
            <a:r>
              <a:rPr lang="en-IN" sz="1800" dirty="0" err="1"/>
              <a:t>LangChain</a:t>
            </a:r>
            <a:r>
              <a:rPr lang="en-IN" sz="1800" dirty="0"/>
              <a:t> — Official Documentation </a:t>
            </a:r>
          </a:p>
          <a:p>
            <a:r>
              <a:rPr lang="en-IN" sz="1800" dirty="0"/>
              <a:t>FAISS — Facebook AI Similarity Search </a:t>
            </a:r>
          </a:p>
          <a:p>
            <a:r>
              <a:rPr lang="en-IN" sz="1800" b="1" dirty="0"/>
              <a:t>Technical Resources:</a:t>
            </a:r>
          </a:p>
          <a:p>
            <a:r>
              <a:rPr lang="en-IN" sz="1800" dirty="0"/>
              <a:t>Provides by the mentor for conceptual understanding.</a:t>
            </a:r>
          </a:p>
          <a:p>
            <a:r>
              <a:rPr lang="en-IN" sz="1800" dirty="0"/>
              <a:t>OpenAI — LLM evaluation &amp; prompt engineering guides </a:t>
            </a:r>
          </a:p>
          <a:p>
            <a:r>
              <a:rPr lang="en-IN" sz="1800" dirty="0"/>
              <a:t>Google AI — Responsible AI &amp; LLM reliability resources </a:t>
            </a:r>
          </a:p>
          <a:p>
            <a:r>
              <a:rPr lang="en-IN" sz="1800" b="1" dirty="0"/>
              <a:t>Conceptual Topics Studied</a:t>
            </a:r>
          </a:p>
          <a:p>
            <a:r>
              <a:rPr lang="en-IN" sz="1800" dirty="0"/>
              <a:t>Retrieval-Augmented Generation (RAG) </a:t>
            </a:r>
          </a:p>
          <a:p>
            <a:r>
              <a:rPr lang="en-IN" sz="1800" dirty="0"/>
              <a:t>Hybrid Search (Dense + Sparse Retrieval) </a:t>
            </a:r>
          </a:p>
          <a:p>
            <a:r>
              <a:rPr lang="en-IN" sz="1800" dirty="0"/>
              <a:t>LLM Hallucination &amp; </a:t>
            </a:r>
            <a:r>
              <a:rPr lang="en-IN" sz="1800" dirty="0" err="1"/>
              <a:t>Groundedness</a:t>
            </a:r>
            <a:r>
              <a:rPr lang="en-IN" sz="1800" dirty="0"/>
              <a:t> </a:t>
            </a:r>
          </a:p>
          <a:p>
            <a:r>
              <a:rPr lang="en-IN" sz="1800" dirty="0"/>
              <a:t>Explainable AI (SHAP, interpretability methods) </a:t>
            </a:r>
          </a:p>
        </p:txBody>
      </p:sp>
    </p:spTree>
    <p:extLst>
      <p:ext uri="{BB962C8B-B14F-4D97-AF65-F5344CB8AC3E}">
        <p14:creationId xmlns:p14="http://schemas.microsoft.com/office/powerpoint/2010/main" val="113466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1E5E8F1-A06E-2EB2-7E12-8293E30D3EE6}"/>
              </a:ext>
            </a:extLst>
          </p:cNvPr>
          <p:cNvSpPr txBox="1"/>
          <p:nvPr/>
        </p:nvSpPr>
        <p:spPr>
          <a:xfrm>
            <a:off x="3055954" y="2979336"/>
            <a:ext cx="6266466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600" dirty="0">
                <a:solidFill>
                  <a:schemeClr val="accent2"/>
                </a:solidFill>
                <a:latin typeface="Segoe Print" panose="02000800000000000000" pitchFamily="2" charset="0"/>
              </a:rPr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189C-F6DD-A3E4-808A-9B95C961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E200D22-A913-914D-B06C-E294256DAC47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4/29/2026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8E987-BDD7-6883-2F5F-F8217E2B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D618AA-8DAA-FF4E-B18D-27A1BA1C015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5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771</Words>
  <Application>Microsoft Office PowerPoint</Application>
  <PresentationFormat>Widescreen</PresentationFormat>
  <Paragraphs>238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Courier New</vt:lpstr>
      <vt:lpstr>Franklin Gothic Book</vt:lpstr>
      <vt:lpstr>Franklin Gothic Medium</vt:lpstr>
      <vt:lpstr>Palatino Linotype</vt:lpstr>
      <vt:lpstr>Segoe Print</vt:lpstr>
      <vt:lpstr>Wingdings</vt:lpstr>
      <vt:lpstr>Office Theme</vt:lpstr>
      <vt:lpstr>Chhattisgarh Swami Vivekanand Technical University  University Teaching Department  Department of Computer Science and Engineering </vt:lpstr>
      <vt:lpstr>Content  </vt:lpstr>
      <vt:lpstr>Introduction</vt:lpstr>
      <vt:lpstr>Problem Statement / Motivation</vt:lpstr>
      <vt:lpstr>Objectives &amp; Scope</vt:lpstr>
      <vt:lpstr>Background /Existing Solutions (for Projects)</vt:lpstr>
      <vt:lpstr>Methodology / Approach</vt:lpstr>
      <vt:lpstr>Work Completed</vt:lpstr>
      <vt:lpstr>Results </vt:lpstr>
      <vt:lpstr>Results </vt:lpstr>
      <vt:lpstr>Challenges Faced</vt:lpstr>
      <vt:lpstr>Current Status vs Planned Timeline</vt:lpstr>
      <vt:lpstr>Future Work</vt:lpstr>
      <vt:lpstr>Learning Outcomes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vibhooti rajkumar</dc:creator>
  <cp:lastModifiedBy>Durgesh Kumar Dewangan</cp:lastModifiedBy>
  <cp:revision>15</cp:revision>
  <dcterms:created xsi:type="dcterms:W3CDTF">2024-10-01T11:31:08Z</dcterms:created>
  <dcterms:modified xsi:type="dcterms:W3CDTF">2026-04-29T08:15:15Z</dcterms:modified>
</cp:coreProperties>
</file>